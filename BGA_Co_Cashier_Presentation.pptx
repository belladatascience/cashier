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2194560" cy="320040"/>
          </a:xfrm>
          <a:prstGeom prst="roundRect">
            <a:avLst>
              <a:gd name="adj" fmla="val 42857"/>
            </a:avLst>
          </a:prstGeom>
          <a:solidFill>
            <a:srgbClr val="C25E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ENTERPRISE POS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KINGDOM CAFE &amp; BGA CO.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CASHIER LATTE POS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4ADA1"/>
                </a:solidFill>
              </a:rPr>
              <a:t>Komprehensif: Filosofi Logo, Arsitektur Teknis, Melanjutkan Proposal,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4ADA1"/>
                </a:solidFill>
              </a:rPr>
              <a:t>Flow CRUD, End-to-End Workflow, Pivot Analysis, dan UI Preview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3B261D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94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Pengembang: Bella Saputra (BGA Co.)  |  Platform: Flutter 3.x Multi-Platform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Database: SQLite (ppkd.db v5) + Reactive Singleton  |  Tanggal: 24 Agustus 2026</a:t>
            </a:r>
            <a:endParaRPr lang="en-US" sz="1000" dirty="0"/>
          </a:p>
        </p:txBody>
      </p:sp>
      <p:pic>
        <p:nvPicPr>
          <p:cNvPr id="8" name="Image 0" descr="d:\PROJECT CASHIER LATTE\project_cashier_bella\cashier\assets\images\cartoon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914400"/>
            <a:ext cx="2194560" cy="347472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 &amp; Identitas Aplikasi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2377440" cy="320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280160"/>
            <a:ext cx="2377440" cy="640080"/>
          </a:xfrm>
          <a:prstGeom prst="roundRect">
            <a:avLst>
              <a:gd name="adj" fmla="val 21429"/>
            </a:avLst>
          </a:prstGeom>
          <a:solidFill>
            <a:srgbClr val="C25E3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25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Visi &amp; Misi POS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103120"/>
            <a:ext cx="2011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Mewujudkan ekosistem kasir kafe yang modern, responsif, terintegrasi, dan meminimalisir human error dalam pencatatan transaksi serta manajemen menu.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0" y="1280160"/>
            <a:ext cx="2377440" cy="320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280160"/>
            <a:ext cx="2377440" cy="640080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325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Nilai Keunggulan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103120"/>
            <a:ext cx="2011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Perhitungan kalkulasi instan, validasi keranjang belanja dinamis, dukungan multi-kategori tak terbatas, serta integrasi QRIS dan digital receipt otomatis.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2377440" cy="320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280160"/>
            <a:ext cx="2377440" cy="640080"/>
          </a:xfrm>
          <a:prstGeom prst="roundRect">
            <a:avLst>
              <a:gd name="adj" fmla="val 21429"/>
            </a:avLst>
          </a:prstGeom>
          <a:solidFill>
            <a:srgbClr val="166534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325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Keamanan &amp; Audit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103120"/>
            <a:ext cx="2011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Dilengkapi Discover Security Gate (ID &amp; Password akun kasir) untuk mencegah manipulasi data menu, serta pelacakan nama kasir di setiap struk.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BRANDING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Filosofi Logo &amp; Visual Brand Identity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pic>
        <p:nvPicPr>
          <p:cNvPr id="8" name="Image 0" descr="d:\PROJECT CASHIER LATTE\project_cashier_bella\cashier\assets\images\cartoon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2377440" cy="320040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83280" y="1280160"/>
            <a:ext cx="50292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0" y="135331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14"/>
                </a:solidFill>
              </a:rPr>
              <a:t>☕  Cangkir Latte &amp; Biji Kopi Artisan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566160" y="16002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Melambangkan dedikasi penuh terhadap kualitas cita rasa kopi terbaik, kehangatan layanan kafe, dan kenyamanan pelanggan di setiap sajian.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83280" y="2084832"/>
            <a:ext cx="50292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215798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14"/>
                </a:solidFill>
              </a:rPr>
              <a:t>👑  Nama &amp; Mahkota "Kingdom"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566160" y="240487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Merepresentasikan standar keunggulan tingkat tinggi (Royalty Service), memastikan setiap tamu diperlakukan dengan penghormatan dan pelayanan istimewa.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383280" y="2889504"/>
            <a:ext cx="50292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66160" y="296265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14"/>
                </a:solidFill>
              </a:rPr>
              <a:t>🎨  Palet Warm Terracotta &amp; Deep Espresso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566160" y="320954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Kombinasi warna bumi (earth tones) yang memberikan kesan estetik, ramah, profesional, serta menciptakan atmosfer kafe yang tenang dan elegan.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383280" y="3694176"/>
            <a:ext cx="50292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66160" y="376732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14"/>
                </a:solidFill>
              </a:rPr>
              <a:t>😊  Karakter Barista Chibi yang Ceria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566160" y="401421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Simbol keramahan (human-centric hospitality), interaksi kasir yang bersahabat, cepat, dan siap melayani dengan senyuman tulus.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IDEATION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Melanjutkan &amp; Menyempurnakan Ide Proposal Awal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17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Konsep Dasar Proposal Awal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Aplikasi kasir sederhana berbasis pencatatan statis.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Input transaksi dasar tanpa pemisahan multi-kategori.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Tidak ada sistem otorisasi akun kasir saat modifikasi menu.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Struk transaksi manual tanpa identitas kasir yang bertugas.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Struktur database flat tanpa relasi user profil kasir.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FEF3C7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17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5E37"/>
                </a:solidFill>
              </a:rPr>
              <a:t>Realisasi &amp; Inovasi Aplikasi Terkini (Pivot BGA Co.)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Arsitektur POS modern dengan Full CRUD &amp; Dynamic Categories.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Real-time reactive cart calculation &amp; QRIS digital payment.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Discover Security Gate: Kunci otorisasi ID &amp; Password akun.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Dynamic Cashier Audit Trail pada seluruh invoice &amp; receipt modal.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SQLite ppkd.db v5 + Reactive ValueNotifier Singleton (UserDataStore).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Deskripsi Teknis &amp; Arsitektur Sistem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6809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533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5E37"/>
                </a:solidFill>
              </a:rPr>
              <a:t>1. UI &amp; Presentation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35331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1B14"/>
                </a:solidFill>
              </a:rPr>
              <a:t>Flutter Material 3 • GoogleFonts (Work Sans &amp; Source Serif 4)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6002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Desain responsif multi-platform (Android, iOS, Web, Desktop) dengan dynamic color tokens dari AppTheme (Warm Terracotta &amp; Espresso theme).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084832"/>
            <a:ext cx="76809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15798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5E37"/>
                </a:solidFill>
              </a:rPr>
              <a:t>2. State Management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157984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1B14"/>
                </a:solidFill>
              </a:rPr>
              <a:t>Reactive ValueNotifier Singleton (UserDataStore)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4048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Sinkronisasi instan data kasir aktif, identitas toko, shift kasir, dan keranjang belanja ke seluruh halaman tanpa lag atau redundant build.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2889504"/>
            <a:ext cx="76809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6265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5E37"/>
                </a:solidFill>
              </a:rPr>
              <a:t>3. Data &amp; Storage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296265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1B14"/>
                </a:solidFill>
              </a:rPr>
              <a:t>SQLite Local Engine (sqflite) • Schema v5 (ppkd.db)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20954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Penyimpanan persisten offline-first untuk akun kasir, autentikasi login, serta relasi data siswa/staff dan transaksi kafe.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3694176"/>
            <a:ext cx="76809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673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5E37"/>
                </a:solidFill>
              </a:rPr>
              <a:t>4. Multi-Source Asset &amp; Image Engine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376732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1B14"/>
                </a:solidFill>
              </a:rPr>
              <a:t>ImagePicker • Asset Paths • Network URLs • Uint8List Bytes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401421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Mendukung pemuatan gambar menu dari file asset lokal, URL gambar online Unsplash, dan input foto langsung via kamera/galeri kasir.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Schema &amp; Entity Relational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365760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C25E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17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5E37"/>
                </a:solidFill>
              </a:rPr>
              <a:t>Tabel: users (SQLite Schema v5)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Menyimpan kredensial kasir &amp; otorisasi Discover: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id (INTEGER PRIMARY KEY AUTOINCREMENT)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email (TEXT) -&gt; ID Kasir (e.g. KASIR01)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password (TEXT) -&gt; Sandi Terenkripsi/Valid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nama (TEXT) -&gt; Nama Lengkap Kasir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nomor_hp (TEXT) -&gt; Kontak Kasir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asalKota (TEXT) -&gt; Asal Kota / Cabang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65760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17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Reactive Store: UserDataStore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Manajemen state reaktif in-memory real-time: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cashierName -&gt; Nama Kasir Aktif (Sync All Views)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storeName -&gt; Nama Cafe ("Kingdom Cafe")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storeLocation -&gt; Lokasi Cabang ("Jakarta")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shift -&gt; Shift Kerja ("Pagi / Sore / Malam")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email &amp; phone -&gt; Informasi Kontak Kasir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isDarkMode -&gt; Status Tema Gelap/Terang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PIVOT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Pivot Analysis: Strategic Transformation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6809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5331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5E37"/>
                </a:solidFill>
              </a:rPr>
              <a:t>1. Manajemen Sesi Kasir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0" y="13533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Awal: Hanya ada single-user tanpa login dinamis.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0" y="13533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66534"/>
                </a:solidFill>
              </a:rPr>
              <a:t>Pivot: Multi-Cashier Profile dengan shift tracking &amp; update instan di seluruh layar transaksi.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084832"/>
            <a:ext cx="76809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15798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5E37"/>
                </a:solidFill>
              </a:rPr>
              <a:t>2. Fleksibilitas Katalog Menu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0" y="21579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Awal: Katalog statis hardcoded dalam satu daftar kaku.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0" y="21579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66534"/>
                </a:solidFill>
              </a:rPr>
              <a:t>Pivot: Full CRUD dinamis: Tambah menu &amp; kategori baru kapan saja secara on-the-fly.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2889504"/>
            <a:ext cx="76809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6265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5E37"/>
                </a:solidFill>
              </a:rPr>
              <a:t>3. Keamanan Modifikasi Menu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0" y="296265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Awal: Semua orang bebas membuka layar edit.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0" y="296265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66534"/>
                </a:solidFill>
              </a:rPr>
              <a:t>Pivot: Discover Security Gate: Diproteksi verifikasi ID Akun &amp; Password sebelum akses edit.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3694176"/>
            <a:ext cx="76809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673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5E37"/>
                </a:solidFill>
              </a:rPr>
              <a:t>4. Alur Pembayaran &amp; Audit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0" y="37673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Awal: Kalkulasi manual tanpa struk &amp; jejak kasir.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37673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66534"/>
                </a:solidFill>
              </a:rPr>
              <a:t>Pivot: Perhitungan otomatis + QRIS Payment + Struk Digital tertera nama Kasir &amp; Customer.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PIVOT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Pivot Analysis: Evolusi Skema Data &amp; Arsitektur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2377440" cy="320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280160"/>
            <a:ext cx="2377440" cy="54864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25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Schema v1 (Proposal)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Tabel SQLite dasar hanya menyimpan nama dan kelas sederhana tanpa sistem autentikasi kasir.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1280160"/>
            <a:ext cx="2377440" cy="320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280160"/>
            <a:ext cx="2377440" cy="54864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325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Schema v3 (Transisi)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01168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Penambahan kolom email dan password dasar, namun belum terhubung ke sistem UI transaksi kafe.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2377440" cy="320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280160"/>
            <a:ext cx="2377440" cy="548640"/>
          </a:xfrm>
          <a:prstGeom prst="roundRect">
            <a:avLst>
              <a:gd name="adj" fmla="val 25000"/>
            </a:avLst>
          </a:prstGeom>
          <a:solidFill>
            <a:srgbClr val="166534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325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Schema v5 (Produksi Final)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Penyempurnaan kolom users (nomor_hp, nama, asalKota), auto-seeding akun default (KASIR01/123), dan sinkronisasi penuh ke UserDataStore Singleton.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PIVOT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Pivot Analysis: Metrik Kuantitatif &amp; Peningkatan Performa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37490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17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Waktu Proses Checkout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5E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3 Detik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Reduksi 75% dari sistem manual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37490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17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Akurasi Audit Transaksi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65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Sinkronisasi kasir, customer, struk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37490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063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Keamanan Modifikasi Menu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337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Enterprise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Otorisasi sandi sandi terverifikasi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37490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63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Dynamic Category Scaling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337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Unlimited Tabs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846320" y="3931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Kategori baru dibuat instan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CRUD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 CRUD: Create (Tambah Menu &amp; Kategori Baru)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1828800" cy="32004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25E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463040"/>
            <a:ext cx="548640" cy="548640"/>
          </a:xfrm>
          <a:prstGeom prst="ellipse">
            <a:avLst/>
          </a:prstGeom>
          <a:solidFill>
            <a:srgbClr val="C25E37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14"/>
                </a:solidFill>
              </a:rPr>
              <a:t>Buka Modal "+ New Menu"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Kasir menekan tombol aksi floating di tab Discover setelah lolos verifikasi otorisasi akun.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97480" y="1280160"/>
            <a:ext cx="1828800" cy="32004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25E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463040"/>
            <a:ext cx="548640" cy="548640"/>
          </a:xfrm>
          <a:prstGeom prst="ellipse">
            <a:avLst/>
          </a:prstGeom>
          <a:solidFill>
            <a:srgbClr val="C25E37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8892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14"/>
                </a:solidFill>
              </a:rPr>
              <a:t>Input Metadata Menu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274320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Mengisi nama menu, memilih kategori aktif atau membuat tab baru, menentukan harga, dan deskripsi sajian.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280160"/>
            <a:ext cx="1828800" cy="32004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25E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463040"/>
            <a:ext cx="548640" cy="548640"/>
          </a:xfrm>
          <a:prstGeom prst="ellipse">
            <a:avLst/>
          </a:prstGeom>
          <a:solidFill>
            <a:srgbClr val="C25E37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14"/>
                </a:solidFill>
              </a:rPr>
              <a:t>Upload Media / Foto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74320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Memilih foto dari galeri HP, kamera langsung (ImagePicker), atau menggunakan default image fallback.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9400" y="1280160"/>
            <a:ext cx="1828800" cy="32004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25E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1463040"/>
            <a:ext cx="548640" cy="548640"/>
          </a:xfrm>
          <a:prstGeom prst="ellipse">
            <a:avLst/>
          </a:prstGeom>
          <a:solidFill>
            <a:srgbClr val="C25E37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14"/>
                </a:solidFill>
              </a:rPr>
              <a:t>Sinkronisasi Real-time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274320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Menu otomatis langsung tampil di tab Discover dan tab Shop kasir tanpa perlu me-restart aplikasi.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CRUD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 CRUD: Read &amp; Search (Katalog &amp; Riwayat Transaksi)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68096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C25E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5E37"/>
                </a:solidFill>
              </a:rPr>
              <a:t>📖 Read Katalog Menu (Tab Shop &amp; Discover)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Menampilkan seluruh produk per kategori (Food, Drink, Snack, Dessert, Kids, dll.).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Tampilan thumbnail gambar, harga format Rupiah, dan deskripsi rasa produk.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Filter kategori horizontal yang cepat dan responsif.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🔍 Read &amp; Filter Riwayat Transaksi (Tab Transaction)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Menampilkan daftar invoice lengkap: ID Transaksi, Jam/Tanggal, Total Pembayaran.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Pencarian instan (Live Search) berdasarkan Invoice ID dan Nama Customer.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Filter status pembayaran (Semua, Berhasil, Pending) dan filter kalender tanggal.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CRUD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 CRUD: Update &amp; Delete (Manajemen Menu &amp; Proteksi)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2377440" cy="320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✏️ Update Menu (Edit)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Kasir dapat memperbarui nama makanan/minuman, menyesuaikan harga jual, mengubah deskripsi, atau mengganti gambar menu kapan saja. Perubahan tersimpan secara instan di state aplikasi.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377440" cy="320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C25E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5E37"/>
                </a:solidFill>
              </a:rPr>
              <a:t>🗑️ Delete Menu (Hapus)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01168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Menu yang sudah tidak dijual dapat dihapus dengan dialog konfirmasi aman (AlertDialog) guna mencegah terhapusnya data secara tidak sengaja oleh kasir.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377440" cy="320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🔒 Proteksi Akses Discover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Kedua aksi kritis (Update &amp; Delete) berada di balik pintu otorisasi Discover Security Gate untuk memastikan hanya personil yang berwenang yang dapat mengubah daftar menu kafe.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 Kerja Aplikasi: End-to-End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240">
            <a:solidFill>
              <a:srgbClr val="C25E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17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5E37"/>
                </a:solidFill>
              </a:rPr>
              <a:t>1. Login / Shift Check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7830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Kasir login &amp; set profil shift aktif.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240">
            <a:solidFill>
              <a:srgbClr val="C25E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417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5E37"/>
                </a:solidFill>
              </a:rPr>
              <a:t>2. Pemilihan Menu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17830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Memilih item dari tab Shop ke keranjang.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240">
            <a:solidFill>
              <a:srgbClr val="C25E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417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5E37"/>
                </a:solidFill>
              </a:rPr>
              <a:t>3. Data Customer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17830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Input nama pelanggan &amp; nomor meja.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92608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240">
            <a:solidFill>
              <a:srgbClr val="C25E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063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5E37"/>
                </a:solidFill>
              </a:rPr>
              <a:t>4. Checkout &amp; QRIS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4290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Validasi pesanan &amp; bayar via QRIS/Cash.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292608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240">
            <a:solidFill>
              <a:srgbClr val="C25E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063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5E37"/>
                </a:solidFill>
              </a:rPr>
              <a:t>5. Cetak Struk Digital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34290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Struk otomatis terisi Kasir &amp; Customer.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292608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240">
            <a:solidFill>
              <a:srgbClr val="C25E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3063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5E37"/>
                </a:solidFill>
              </a:rPr>
              <a:t>6. Simpan Riwayat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34290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Data tercatat di Transaction History.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SECURITY &amp; AUDIT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Fitur Keamanan Discover Gate &amp; Audit Kasir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768096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C25E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5E37"/>
                </a:solidFill>
              </a:rPr>
              <a:t>🔒 Discover Security Lock Dialog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Sebelum masuk ke tab Discover (Menu Management), sistem memunculkan pop-up otorisasi meminta ID Akun &amp; Password. Terverifikasi langsung ke tabel SQLite users (default: KASIR01 / 123). Mencegah menu diedit tanpa izin.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6534"/>
                </a:solidFill>
              </a:rPr>
              <a:t>🏷️ Audit Trail Kasir di Setiap Transaksi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Setiap struk belanja, konfirmasi pesanan, dan riwayat transaksi mencantumkan nama kasir yang sedang bertugas secara otomatis dari UserDataStore. Memudahkan audit harian dan rekonsiliasi kas.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UI PREVIEW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Preview: Home &amp; Shop Catalog Experience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pic>
        <p:nvPicPr>
          <p:cNvPr id="8" name="Image 0" descr="C:\Users\PC-06\.gemini\antigravity-ide\brain\f93375b1-71fa-4d6a-9762-2c2235e7612f\.user_uploaded\media_17875402916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1828800" cy="320040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34640" y="1280160"/>
            <a:ext cx="55778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1752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5E37"/>
                </a:solidFill>
              </a:rPr>
              <a:t>Keunggulan Tampilan Shop &amp; Home: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17520" y="187452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Brand Header: Menampilkan nama cafe ("Kingdom Cafe") dan ikon keranjang interaktif.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Cashier Banner: Bar nama kasir yang bertugas selalu ter-update secara real-time.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Category Tabs: Tab kategori dinamis (Food, Drink, Snack, Dessert, Kids) dengan navigasi halus.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Floating Cart Button: Indikator jumlah pesanan aktif yang siap di-checkout dalam 1 sentuhan.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Clean Layout: Tampilan rapi, intuitif, dan responsif untuk kasir.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UI PREVIEW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Preview: Discover Menu Management &amp; Security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pic>
        <p:nvPicPr>
          <p:cNvPr id="8" name="Image 0" descr="C:\Users\PC-06\.gemini\antigravity-ide\brain\f93375b1-71fa-4d6a-9762-2c2235e7612f\.user_uploaded\media_17875362313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1828800" cy="320040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34640" y="1280160"/>
            <a:ext cx="55778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1752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4"/>
                </a:solidFill>
              </a:rPr>
              <a:t>Fitur Manajemen Menu (Discover Tab):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17520" y="187452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Protected Navigation: Ikon tab Discover menampilkan gembok saat terkunci.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Authentication Modal: Pop-up input ID Akun &amp; Password saat menekan tab Discover.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Tombol "Kunci Kembali": Banner kasir dilengkapi tombol gembok untuk mengunci kembali sesi.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Menu Card Action: Tombol Edit (Kuning) dan Delete (Merah) pada tiap produk.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Floating Action Button "+ New Menu": Form cepat menambah sajian baru.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UI PREVIEW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Preview: Checkout, QRIS &amp; Struk Transaksi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pic>
        <p:nvPicPr>
          <p:cNvPr id="8" name="Image 0" descr="C:\Users\PC-06\.gemini\antigravity-ide\brain\f93375b1-71fa-4d6a-9762-2c2235e7612f\.user_uploaded\media_17875376427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1737360" cy="3200400"/>
          </a:xfrm>
          <a:prstGeom prst="ellipse">
            <a:avLst/>
          </a:prstGeom>
        </p:spPr>
      </p:pic>
      <p:pic>
        <p:nvPicPr>
          <p:cNvPr id="9" name="Image 1" descr="C:\Users\PC-06\.gemini\antigravity-ide\brain\f93375b1-71fa-4d6a-9762-2c2235e7612f\.user_uploaded\media_178753765237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280160"/>
            <a:ext cx="1737360" cy="3200400"/>
          </a:xfrm>
          <a:prstGeom prst="ellipse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0" y="1280160"/>
            <a:ext cx="384048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548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5E37"/>
                </a:solidFill>
              </a:rPr>
              <a:t>Alur Transaksi &amp; Struk Digital: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754880" y="187452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• Modal Konfirmasi Pesanan: Rincian item, subtotal, tax 10%, dan grand total.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• Input Customer &amp; Table: Menyimpan nama pemesan dan nomor meja.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• QRIS Dynamic Screen: QR Code pembayaran instan.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• Struk Digital Otomatis: Tercantum nama Kasir ("Cashier: Bella Saputra"), nama Customer, dan rincian belanja lengkap.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UI PREVIEW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Preview: Profil Kasir &amp; Staff Shift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pic>
        <p:nvPicPr>
          <p:cNvPr id="8" name="Image 0" descr="C:\Users\PC-06\.gemini\antigravity-ide\brain\f93375b1-71fa-4d6a-9762-2c2235e7612f\.user_uploaded\media_17875391508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1737360" cy="3200400"/>
          </a:xfrm>
          <a:prstGeom prst="ellipse">
            <a:avLst/>
          </a:prstGeom>
        </p:spPr>
      </p:pic>
      <p:pic>
        <p:nvPicPr>
          <p:cNvPr id="9" name="Image 1" descr="C:\Users\PC-06\.gemini\antigravity-ide\brain\f93375b1-71fa-4d6a-9762-2c2235e7612f\.user_uploaded\media_17875383238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280160"/>
            <a:ext cx="1737360" cy="3200400"/>
          </a:xfrm>
          <a:prstGeom prst="ellipse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0" y="1280160"/>
            <a:ext cx="384048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548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</a:rPr>
              <a:t>Fitur Profil Kasir &amp; Shift Staff: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754880" y="187452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• Update Profil Kasir: Edit nama akun, email, nomor HP, dan toko aktif.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• Shift Scheduling: Pengaturan jadwal (Pagi: 07:00 - 15:00, Sore: 15:00 - 23:00).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• Full CRUD Manajemen Staff: Tambah (+ Staff), Edit data tugas, dan Hapus (Delete) di setiap shift.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• Status &amp; Tracking Kehadiran: Hitung rasio staf hadir dinamis dan sinkronisasi instan.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C25E37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 &amp;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Kesimpulan, Keunggulan &amp; Roadmap Masa Depan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320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KINGDOM CAFE POS • v5.0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BGA Co. Cashier System &amp; Point of Sale •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Fase Saat Ini (v5.0)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✓ Full CRUD Menu &amp; Dynamic Category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✓ Discover Security Gate Authentication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✓ QRIS Digital Payment &amp; Receipt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✓ Real-time Cashier Audit Trail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C25E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5E37"/>
                </a:solidFill>
              </a:rPr>
              <a:t>Fase Masa Depan (v6.0+)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➔ Cloud DB Sync (Firebase / Supabase)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➔ Bluetooth Thermal Receipt Printer Direct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➔ Multi-Outlet Inventory &amp; Stock Alert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➔ AI-Powered Sales Trend Prediction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TERIMA KASIH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DA1"/>
                </a:solidFill>
              </a:rPr>
              <a:t>Kingdom Cafe &amp; BGA Co. Cashier Latte POS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0" y="2743200"/>
            <a:ext cx="4572000" cy="1371600"/>
          </a:xfrm>
          <a:prstGeom prst="roundRect">
            <a:avLst>
              <a:gd name="adj" fmla="val 10000"/>
            </a:avLst>
          </a:prstGeom>
          <a:solidFill>
            <a:srgbClr val="3B261D"/>
          </a:solidFill>
          <a:ln w="12700">
            <a:solidFill>
              <a:srgbClr val="C25E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68880" y="288036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SESI TANYA JAWAB (Q&amp;A)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Silakan ajukan pertanyaan seputar arsitektur, alur CRUD,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pivot analysis, maupun implementasi kode aplikasi.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2026-08-24T03:58:13Z</dcterms:created>
  <dcterms:modified xsi:type="dcterms:W3CDTF">2026-08-24T03:58:13Z</dcterms:modified>
</cp:coreProperties>
</file>